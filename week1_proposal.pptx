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B0FF"/>
                </a:solidFill>
              </a:defRPr>
            </a:pPr>
            <a:r>
              <a:t>Week 1 Proposal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E8F0"/>
                </a:solidFill>
              </a:defRPr>
            </a:pPr>
            <a:r>
              <a:t>Effect of Inter-Meta-Atom Coupling on Phase Response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2200" b="0">
                <a:solidFill>
                  <a:srgbClr val="9999AA"/>
                </a:solidFill>
              </a:defRPr>
            </a:pPr>
            <a:r>
              <a:t>메타 원자 간 커플링이 위상 응답에 미치는 영향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</a:defRPr>
            </a:pPr>
            <a:r>
              <a:t>Coupled Dipole Approximation (CDA)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AA"/>
                </a:solidFill>
              </a:defRPr>
            </a:pPr>
            <a:r>
              <a:t>Track A — Build a New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B0FF"/>
                </a:solidFill>
              </a:defRPr>
            </a:pPr>
            <a:r>
              <a:t>1. Research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</a:defRPr>
            </a:pPr>
            <a:r>
              <a:t>연구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</a:defRPr>
            </a:pPr>
            <a:r>
              <a:t>Assumption in Metasurface Design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9999AA"/>
                </a:solidFill>
              </a:defRPr>
            </a:pPr>
            <a:r>
              <a:t>메타서페이스 설계의 기본 가정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• Each meta-atom treated as isolated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각 메타 원자를 독립적(isolated)으로 가정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• Individual scattering properties computed first, then applied to array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개별 산란 특성을 먼저 계산 후 배열에 적용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E8E8F0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FFC107"/>
                </a:solidFill>
              </a:defRPr>
            </a:pPr>
            <a:r>
              <a:t>The Problem: Coupling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9999AA"/>
                </a:solidFill>
              </a:defRPr>
            </a:pPr>
            <a:r>
              <a:t>문제: 상호작용(Coupling) 효과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• Adjacent meta-atoms are EM coupled in reality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실제로는 인접 원자 간 전자기 커플링 존재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• Scattered light from one atom alters neighbors' response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한 원자가 산란한 빛이 인접 원자의 응답을 변화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• Coupling strengthens as period decreases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주기가 작을수록 커플링 강화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</a:defRPr>
            </a:pPr>
            <a:r>
              <a:t>Why It Matters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9999AA"/>
                </a:solidFill>
              </a:defRPr>
            </a:pPr>
            <a:r>
              <a:t>왜 중요한가?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• Phase precision is critical for metalenses, holograms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고효율 메타렌즈, 홀로그램에서 위상 정밀도가 핵심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• Coupling-induced phase distortion degrades performance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커플링으로 인한 위상 왜곡 → 성능 저하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• Quantitative understanding enables better design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정량적 이해 → 더 정확한 설계 가능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E8E8F0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FFC107"/>
                </a:solidFill>
              </a:defRPr>
            </a:pPr>
            <a:r>
              <a:t>Design vs Reality Mismatch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9999AA"/>
                </a:solidFill>
              </a:defRPr>
            </a:pPr>
            <a:r>
              <a:t>설계 ↔ 실제 성능 불일치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• Isolated assumption → incorrect phase at small periods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고립 가정 → 작은 주기에서 부정확한 위상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• Need to quantify: how much distortion, at what period?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얼마나 왜곡되는지, 어떤 주기에서? → 정량화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B0FF"/>
                </a:solidFill>
              </a:defRPr>
            </a:pPr>
            <a:r>
              <a:t>2.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</a:defRPr>
            </a:pPr>
            <a:r>
              <a:t>연구 질문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solidFill>
            <a:srgbClr val="1A2540"/>
          </a:solidFill>
          <a:ln w="25400">
            <a:solidFill>
              <a:srgbClr val="58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E8E8F0"/>
                </a:solidFill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E8E8F0"/>
                </a:solidFill>
              </a:defRPr>
            </a:pPr>
            <a:r>
              <a:t>"How does the phase distortion caused by inter-meta-atom coupling increase as the array period decreases?"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E8E8F0"/>
                </a:solidFill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FFC107"/>
                </a:solidFill>
              </a:defRPr>
            </a:pPr>
            <a:r>
              <a:t>"배열 주기가 줄어들수록 메타 원자 간 커플링에 의한 위상 왜곡이 어떻게 증가하는가?"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0D0FF"/>
                </a:solidFill>
              </a:defRPr>
            </a:pPr>
            <a:r>
              <a:t>Sub-questions | 세부 질문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1. Isolated vs. array phase response — how different?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  고립 vs 배열 내 위상 응답의 차이는?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2. Phase deviation trend as P varies from λ/2 to 2λ?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  P가 λ/2 → 2λ로 변할 때 위상 편차 추이는?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3. Uniform vs. non-uniform array — different coupling?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  균일 배열 vs 비균일 배열에서 커플링 차이?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4. Is there a threshold period where coupling becomes negligible?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  커플링 무시 가능한 주기 임계값 존재?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B0FF"/>
                </a:solidFill>
              </a:defRPr>
            </a:pPr>
            <a:r>
              <a:t>3. Track A — Build a New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</a:defRPr>
            </a:pPr>
            <a:r>
              <a:t>시뮬레이션 직접 구축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011680"/>
            <a:ext cx="8503920" cy="3200400"/>
          </a:xfrm>
          <a:prstGeom prst="rect">
            <a:avLst/>
          </a:prstGeom>
          <a:solidFill>
            <a:srgbClr val="1A2540"/>
          </a:solidFill>
          <a:ln w="25400">
            <a:solidFill>
              <a:srgbClr val="58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C107"/>
                </a:solidFill>
              </a:defRPr>
            </a:pPr>
            <a:r>
              <a:t>Coupled Dipole Approximation (CDA)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E8E8F0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E8E8F0"/>
                </a:solidFill>
              </a:defRPr>
            </a:pPr>
            <a:r>
              <a:t>• Implement CDA simulation from scratch in Python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9999AA"/>
                </a:solidFill>
              </a:defRPr>
            </a:pPr>
            <a:r>
              <a:t>  CDA 시뮬레이션을 Python으로 처음부터 구현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E8E8F0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E8E8F0"/>
                </a:solidFill>
              </a:defRPr>
            </a:pPr>
            <a:r>
              <a:t>• Directly code Green's function + N×N linear system solver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9999AA"/>
                </a:solidFill>
              </a:defRPr>
            </a:pPr>
            <a:r>
              <a:t>  Green 함수 + N×N 선형 시스템 풀이를 직접 코딩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E8E8F0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E8E8F0"/>
                </a:solidFill>
              </a:defRPr>
            </a:pPr>
            <a:r>
              <a:t>• Python + NumPy / SciPy based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9999AA"/>
                </a:solidFill>
              </a:defRPr>
            </a:pPr>
            <a:r>
              <a:t>  Python + NumPy / SciPy 기반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B0FF"/>
                </a:solidFill>
              </a:defRPr>
            </a:pPr>
            <a:r>
              <a:t>4.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</a:defRPr>
            </a:pPr>
            <a:r>
              <a:t>물리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D0FF"/>
                </a:solidFill>
              </a:defRPr>
            </a:pPr>
            <a:r>
              <a:t>Point dipole model | 점 쌍극자 모델:</a:t>
            </a:r>
          </a:p>
        </p:txBody>
      </p:sp>
      <p:pic>
        <p:nvPicPr>
          <p:cNvPr id="5" name="Picture 4" descr="eq_86f238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783080"/>
            <a:ext cx="210256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D0FF"/>
                </a:solidFill>
              </a:defRPr>
            </a:pPr>
            <a:r>
              <a:t>Local electric field | 국소 전기장:</a:t>
            </a:r>
          </a:p>
        </p:txBody>
      </p:sp>
      <p:pic>
        <p:nvPicPr>
          <p:cNvPr id="7" name="Picture 6" descr="eq_c4f896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834640"/>
            <a:ext cx="2296089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D0FF"/>
                </a:solidFill>
              </a:defRPr>
            </a:pPr>
            <a:r>
              <a:t>Green's function (2D) | Green 함수:</a:t>
            </a:r>
          </a:p>
        </p:txBody>
      </p:sp>
      <p:pic>
        <p:nvPicPr>
          <p:cNvPr id="9" name="Picture 8" descr="eq_3d2355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886200"/>
            <a:ext cx="233465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D0FF"/>
                </a:solidFill>
              </a:defRPr>
            </a:pPr>
            <a:r>
              <a:t>Matrix form | 행렬 형태:</a:t>
            </a:r>
          </a:p>
        </p:txBody>
      </p:sp>
      <p:pic>
        <p:nvPicPr>
          <p:cNvPr id="11" name="Picture 10" descr="eq_a6bb81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937760"/>
            <a:ext cx="1868805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D0FF"/>
                </a:solidFill>
              </a:defRPr>
            </a:pPr>
            <a:r>
              <a:t>Matrix element: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8F0"/>
                </a:solidFill>
              </a:defRPr>
            </a:pPr>
            <a:r>
              <a:t>A_ii = 1/αᵢ  ,   A_ij = −G(rᵢⱼ)  (i≠j)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D0FF"/>
                </a:solidFill>
              </a:defRPr>
            </a:pPr>
            <a:r>
              <a:t>Key components | 주요 구성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E8E8F0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FFC107"/>
                </a:solidFill>
              </a:defRPr>
            </a:pPr>
            <a:r>
              <a:t>▸ State var | 상태 변수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8E8F0"/>
                </a:solidFill>
              </a:defRPr>
            </a:pPr>
            <a:r>
              <a:t>  Dipole moment pᵢ (complex)</a:t>
            </a:r>
            <a:br/>
            <a:r>
              <a:t>쌍극자 모멘트 pᵢ (복소수)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FFC107"/>
                </a:solidFill>
              </a:defRPr>
            </a:pPr>
            <a:r>
              <a:t>▸ Parameters | 파라미터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8E8F0"/>
                </a:solidFill>
              </a:defRPr>
            </a:pPr>
            <a:r>
              <a:t>  Period P, α (Lorentzian), λ</a:t>
            </a:r>
            <a:br/>
            <a:r>
              <a:t>주기 P, 분극률 α, 파장 λ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FFC107"/>
                </a:solidFill>
              </a:defRPr>
            </a:pPr>
            <a:r>
              <a:t>▸ Boundary | 경계 조건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8E8F0"/>
                </a:solidFill>
              </a:defRPr>
            </a:pPr>
            <a:r>
              <a:t>  Plane wave, finite 1D array</a:t>
            </a:r>
            <a:br/>
            <a:r>
              <a:t>평면파, 유한 1D 배열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B0FF"/>
                </a:solidFill>
              </a:defRPr>
            </a:pPr>
            <a:r>
              <a:t>5. Input /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</a:defRPr>
            </a:pPr>
            <a:r>
              <a:t>입출력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107"/>
                </a:solidFill>
              </a:defRPr>
            </a:pPr>
            <a:r>
              <a:t>Input | 입력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A0D0FF"/>
                </a:solidFill>
              </a:defRPr>
            </a:pPr>
            <a:r>
              <a:t>▸ Wavelength λ | 파장 λ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8E8F0"/>
                </a:solidFill>
              </a:defRPr>
            </a:pPr>
            <a:r>
              <a:t>   → Design wavelength (normalized)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A0D0FF"/>
                </a:solidFill>
              </a:defRPr>
            </a:pPr>
            <a:r>
              <a:t>▸ Array period P | 배열 주기 P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8E8F0"/>
                </a:solidFill>
              </a:defRPr>
            </a:pPr>
            <a:r>
              <a:t>   → 0.5λ ~ 2.0λ (sweep)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A0D0FF"/>
                </a:solidFill>
              </a:defRPr>
            </a:pPr>
            <a:r>
              <a:t>▸ Num. meta-atoms N | 메타 원자 수 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8E8F0"/>
                </a:solidFill>
              </a:defRPr>
            </a:pPr>
            <a:r>
              <a:t>   → 1D: 20 ~ 100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A0D0FF"/>
                </a:solidFill>
              </a:defRPr>
            </a:pPr>
            <a:r>
              <a:t>▸ Polarizability α | 분극률 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8E8F0"/>
                </a:solidFill>
              </a:defRPr>
            </a:pPr>
            <a:r>
              <a:t>   → Lorentzian model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A0D0FF"/>
                </a:solidFill>
              </a:defRPr>
            </a:pPr>
            <a:r>
              <a:t>▸ Resonance freq. ω₀ | 공진 주파수 ω₀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8E8F0"/>
                </a:solidFill>
              </a:defRPr>
            </a:pPr>
            <a:r>
              <a:t>   → May vary per atom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A0D0FF"/>
                </a:solidFill>
              </a:defRPr>
            </a:pPr>
            <a:r>
              <a:t>▸ Incident wave | 입사파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E8E8F0"/>
                </a:solidFill>
              </a:defRPr>
            </a:pPr>
            <a:r>
              <a:t>   → Plane wave (normal incidence)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107"/>
                </a:solidFill>
              </a:defRPr>
            </a:pPr>
            <a:r>
              <a:t>Output | 출력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• Dipole moment pᵢ (complex)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각 원자의 유도 쌍극자 모멘트 pᵢ (복소수)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E8E8F0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• Phase: arg(pᵢ) — actual phase in array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pᵢ의 위상: 배열 내 실제 위상 응답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E8E8F0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• Isolated response: pᵢⁱˢᵒ = αᵢ · Eᵢₙ꜀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고립 응답: pᵢⁱˢᵒ = αᵢ · Eᵢₙ꜀ (커플링 무시)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E8E8F0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</a:defRPr>
            </a:pPr>
            <a:r>
              <a:t>Key output | 핵심 출력:</a:t>
            </a:r>
          </a:p>
        </p:txBody>
      </p:sp>
      <p:pic>
        <p:nvPicPr>
          <p:cNvPr id="7" name="Picture 6" descr="eq_ab83f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572000"/>
            <a:ext cx="4645529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B0FF"/>
                </a:solidFill>
              </a:defRPr>
            </a:pPr>
            <a:r>
              <a:t>6. Quantitative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</a:defRPr>
            </a:pPr>
            <a:r>
              <a:t>측정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</a:defRPr>
            </a:pPr>
            <a:r>
              <a:t>1. Mean Phase Deviation | 평균 위상 편차</a:t>
            </a:r>
          </a:p>
        </p:txBody>
      </p:sp>
      <p:pic>
        <p:nvPicPr>
          <p:cNvPr id="5" name="Picture 4" descr="eq_34e0fa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874520"/>
            <a:ext cx="1139383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606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</a:defRPr>
            </a:pPr>
            <a:r>
              <a:t>2. Max Phase Deviation | 최대 위상 편차</a:t>
            </a:r>
          </a:p>
        </p:txBody>
      </p:sp>
      <p:pic>
        <p:nvPicPr>
          <p:cNvPr id="7" name="Picture 6" descr="eq_3547b2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017520"/>
            <a:ext cx="2335992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749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</a:defRPr>
            </a:pPr>
            <a:r>
              <a:t>3. Amplitude Distortion Ratio | 진폭 왜곡 비</a:t>
            </a:r>
          </a:p>
        </p:txBody>
      </p:sp>
      <p:pic>
        <p:nvPicPr>
          <p:cNvPr id="9" name="Picture 8" descr="eq_26c835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160520"/>
            <a:ext cx="1392979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892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</a:defRPr>
            </a:pPr>
            <a:r>
              <a:t>4. Optical Theorem Check | 에너지 보존 검증</a:t>
            </a:r>
          </a:p>
        </p:txBody>
      </p:sp>
      <p:pic>
        <p:nvPicPr>
          <p:cNvPr id="11" name="Picture 10" descr="eq_844626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303520"/>
            <a:ext cx="2336259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AA"/>
                </a:solidFill>
              </a:defRPr>
            </a:pPr>
            <a:r>
              <a:t>Primary metric: plot  Δφ̄(P)  vs period P → quantify coupling effect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주요 지표: Δφ̄(P) vs 주기 P 그래프 → 커플링 영향 정량화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B0FF"/>
                </a:solidFill>
              </a:defRPr>
            </a:pPr>
            <a:r>
              <a:t>7. Controlled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</a:defRPr>
            </a:pPr>
            <a:r>
              <a:t>비교 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</a:defRPr>
            </a:pPr>
            <a:r>
              <a:t>Main: Period Sweep | 메인: 주기 스윕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B0FF"/>
                </a:solidFill>
              </a:defRPr>
            </a:pPr>
            <a:r>
              <a:t>Period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B0FF"/>
                </a:solidFill>
              </a:defRPr>
            </a:pPr>
            <a:r>
              <a:t>P/λ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B0FF"/>
                </a:solidFill>
              </a:defRPr>
            </a:pPr>
            <a:r>
              <a:t>Coupling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B0FF"/>
                </a:solidFill>
              </a:defRPr>
            </a:pPr>
            <a:r>
              <a:t>Expected Distortion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Dense | 밀집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Strong | 강함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377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Large distortion | 큰 왜곡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Medium | 중간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4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Moderate | 중간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Measurable | 측정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Sparse | 희박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1.5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Weak | 약함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Small | 작음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Very sparse | 매우 희박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Negligible | 무시 가능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Baseline | 기준선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</a:defRPr>
            </a:pPr>
            <a:r>
              <a:t>Additional: Uniform vs Non-uniform Array | 추가: 균일 vs 비균일 배열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D0FF"/>
                </a:solidFill>
              </a:defRPr>
            </a:pPr>
            <a:r>
              <a:t>▸ Uniform array | 균일 배열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E8E8F0"/>
                </a:solidFill>
              </a:defRPr>
            </a:pPr>
            <a:r>
              <a:t>All atoms identical (same α)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모든 메타 원자 동일 → 순수 격자 커플링 분리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D0FF"/>
                </a:solidFill>
              </a:defRPr>
            </a:pPr>
            <a:r>
              <a:t>▸ Non-uniform array | 비균일 배열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E8E8F0"/>
                </a:solidFill>
              </a:defRPr>
            </a:pPr>
            <a:r>
              <a:t>Each atom has different α (phase gradient)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각 원자 α 상이 → 실제 메타렌즈 상황과 유사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B0FF"/>
                </a:solidFill>
              </a:defRPr>
            </a:pPr>
            <a:r>
              <a:t>8. Verification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</a:defRPr>
            </a:pPr>
            <a:r>
              <a:t>검증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03520" cy="1554480"/>
          </a:xfrm>
          <a:prstGeom prst="rect">
            <a:avLst/>
          </a:prstGeom>
          <a:solidFill>
            <a:srgbClr val="1A2540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C107"/>
                </a:solidFill>
              </a:defRPr>
            </a:pPr>
            <a:r>
              <a:t>1. Analytical Comparison | 해석해 비교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9999AA"/>
                </a:solidFill>
              </a:defRPr>
            </a:pPr>
            <a:r>
              <a:t>[Sanity Check]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E8E8F0"/>
                </a:solidFill>
              </a:defRPr>
            </a:pPr>
            <a:r>
              <a:t>  • Single atom: CDA result vs p = α · E_inc</a:t>
            </a:r>
            <a:br/>
            <a:r>
              <a:t>1개 원자: CDA 결과 vs 직접 계산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E8E8F0"/>
                </a:solidFill>
              </a:defRPr>
            </a:pPr>
            <a:r>
              <a:t>  • Two atoms: compare with analytical 2-dipole solution</a:t>
            </a:r>
            <a:br/>
            <a:r>
              <a:t>2개 원자: 해석적 해와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5303520" cy="1554480"/>
          </a:xfrm>
          <a:prstGeom prst="rect">
            <a:avLst/>
          </a:prstGeom>
          <a:solidFill>
            <a:srgbClr val="1A2540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C107"/>
                </a:solidFill>
              </a:defRPr>
            </a:pPr>
            <a:r>
              <a:t>2. Limiting Case | 극한 검증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9999AA"/>
                </a:solidFill>
              </a:defRPr>
            </a:pPr>
            <a:r>
              <a:t>[Consistency Check]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E8E8F0"/>
                </a:solidFill>
              </a:defRPr>
            </a:pPr>
            <a:r>
              <a:t>  • P → ∞ : coupled phase → isolated phase</a:t>
            </a:r>
            <a:br/>
            <a:r>
              <a:t>P → ∞ : 커플링 위상 → 고립 위상 수렴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E8E8F0"/>
                </a:solidFill>
              </a:defRPr>
            </a:pPr>
            <a:r>
              <a:t>  • Δφ → 0  as  P → ∞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303520" cy="1554480"/>
          </a:xfrm>
          <a:prstGeom prst="rect">
            <a:avLst/>
          </a:prstGeom>
          <a:solidFill>
            <a:srgbClr val="1A2540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C107"/>
                </a:solidFill>
              </a:defRPr>
            </a:pPr>
            <a:r>
              <a:t>3. Optical Theorem | 에너지 보존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9999AA"/>
                </a:solidFill>
              </a:defRPr>
            </a:pPr>
            <a:r>
              <a:t>[Conservation Check]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E8E8F0"/>
                </a:solidFill>
              </a:defRPr>
            </a:pPr>
            <a:r>
              <a:t>  • Verify extinction cross-section satisfies optical theorem</a:t>
            </a:r>
            <a:br/>
            <a:r>
              <a:t>소광 단면적이 optical theorem 만족하는지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291840"/>
            <a:ext cx="5303520" cy="1554480"/>
          </a:xfrm>
          <a:prstGeom prst="rect">
            <a:avLst/>
          </a:prstGeom>
          <a:solidFill>
            <a:srgbClr val="1A2540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C107"/>
                </a:solidFill>
              </a:defRPr>
            </a:pPr>
            <a:r>
              <a:t>4. Convergence | 수렴성 검사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9999AA"/>
                </a:solidFill>
              </a:defRPr>
            </a:pPr>
            <a:r>
              <a:t>[Robustness Check]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E8E8F0"/>
                </a:solidFill>
              </a:defRPr>
            </a:pPr>
            <a:r>
              <a:t>  • Central atom's Δφ converges as N increases</a:t>
            </a:r>
            <a:br/>
            <a:r>
              <a:t>배열 크기 N ↑ 시 중심 원자 Δφ 수렴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B0FF"/>
                </a:solidFill>
              </a:defRPr>
            </a:pPr>
            <a:r>
              <a:t>9.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AA"/>
                </a:solidFill>
              </a:defRPr>
            </a:pPr>
            <a:r>
              <a:t>성공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solidFill>
            <a:srgbClr val="1A2540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C107"/>
                </a:solidFill>
              </a:defRPr>
            </a:pPr>
            <a:r>
              <a:t>Minimum Viable Project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9999AA"/>
                </a:solidFill>
              </a:defRPr>
            </a:pPr>
            <a:r>
              <a:t>최소 완성 기준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8E8F0"/>
                </a:solidFill>
              </a:defRPr>
            </a:pPr>
            <a:r>
              <a:t> 1. Build &amp; solve CDA linear system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   CDA 선형 시스템 구축 및 풀이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8E8F0"/>
                </a:solidFill>
              </a:defRPr>
            </a:pPr>
            <a:r>
              <a:t> 2. Extract phase deviation: isolated vs coupled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   고립 vs 커플링 위상 편차 추출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8E8F0"/>
                </a:solidFill>
              </a:defRPr>
            </a:pPr>
            <a:r>
              <a:t> 3. Δφ̄(P) graph over period sweep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   주기 스윕에 따른 Δφ̄(P) 그래프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E8E8F0"/>
                </a:solidFill>
              </a:defRPr>
            </a:pPr>
            <a:r>
              <a:t> 4. Verify: single dipole matches analytical solution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   검증: 1개 쌍극자 해석해 일치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63040"/>
            <a:ext cx="5029200" cy="4114800"/>
          </a:xfrm>
          <a:prstGeom prst="rect">
            <a:avLst/>
          </a:prstGeom>
          <a:solidFill>
            <a:srgbClr val="1A2540"/>
          </a:solidFill>
          <a:ln w="25400">
            <a:solidFill>
              <a:srgbClr val="58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58B0FF"/>
                </a:solidFill>
              </a:defRPr>
            </a:pPr>
            <a:r>
              <a:t>Full Project (Target)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9999AA"/>
                </a:solidFill>
              </a:defRPr>
            </a:pPr>
            <a:r>
              <a:t>완전 프로젝트 (목표)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 ▸ All minimum items +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  최소 항목 전부 +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 ▸ Uniform vs non-uniform comparison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  균일 vs 비균일 배열 비교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 ▸ Optical theorem verification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  Optical theorem 검증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 ▸ Array size convergence analysis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  배열 크기 수렴성 분석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 ▸ Quantify threshold period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  커플링 무시 가능 임계 주기 제시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E8E8F0"/>
                </a:solidFill>
              </a:defRPr>
            </a:pPr>
            <a:r>
              <a:t> ▸ Physical interpretation &amp; limitations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9999AA"/>
                </a:solidFill>
              </a:defRPr>
            </a:pPr>
            <a:r>
              <a:t>    물리적 해석 및 한계점 논의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