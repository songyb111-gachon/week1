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478A"/>
                </a:solidFill>
              </a:defRPr>
            </a:pPr>
            <a:r>
              <a:t>Week 2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2222"/>
                </a:solidFill>
              </a:defRPr>
            </a:pPr>
            <a:r>
              <a:t>CDA Baseline Implementation &amp; Comprehensive Verification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0">
                <a:solidFill>
                  <a:srgbClr val="666677"/>
                </a:solidFill>
              </a:defRPr>
            </a:pPr>
            <a:r>
              <a:t>CDA 베이스라인 구현 및 종합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8A4C"/>
                </a:solidFill>
              </a:defRPr>
            </a:pPr>
            <a:r>
              <a:t>10 / 10 physical verification tests 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1. Question Being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검증 중인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solidFill>
            <a:srgbClr val="F0F4FA"/>
          </a:solidFill>
          <a:ln w="2540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22222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222222"/>
                </a:solidFill>
              </a:defRPr>
            </a:pPr>
            <a:r>
              <a:t>"How does the phase distortion caused by inter-meta-atom coupling increase as the array period P decreases?"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C0392B"/>
                </a:solidFill>
              </a:defRPr>
            </a:pPr>
            <a:r>
              <a:t>"배열 주기 P가 줄어들수록 메타 원자 간 커플링에 의한 위상 왜곡이 어떻게 증가하는가?"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E6BB0"/>
                </a:solidFill>
              </a:defRPr>
            </a:pPr>
            <a:r>
              <a:t>This week's focus: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이번 주의 목표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Build CDA simulation from scratch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CDA 시뮬레이션 직접 구현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Run 10 independent physical verification tests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10가지 독립적 물리 검증 수행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2. Baseline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구현한 베이스라인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Code structure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코드 구조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1A478A"/>
                </a:solidFill>
              </a:defRPr>
            </a:pPr>
            <a:r>
              <a:t>▸ cda.py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Core library — Green's function, matrix, solver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핵심 라이브러리: Green 함수, 행렬, 솔버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1A478A"/>
                </a:solidFill>
              </a:defRPr>
            </a:pPr>
            <a:r>
              <a:t>▸ run_baseline.py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Baseline run + first figures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기본 시뮬 실행 + 첫 그림 생성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1A478A"/>
                </a:solidFill>
              </a:defRPr>
            </a:pPr>
            <a:r>
              <a:t>▸ run_period_sweep.py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Period sweep (Week 3 preview)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주기 스윕 (Week 3 사전 실험)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700" b="1">
                <a:solidFill>
                  <a:srgbClr val="1A478A"/>
                </a:solidFill>
              </a:defRPr>
            </a:pPr>
            <a:r>
              <a:t>▸ run_verification.py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10 physical verification tests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10가지 물리 검증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What works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동작 확인 사항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8A4C"/>
                </a:solidFill>
              </a:defRPr>
            </a:pPr>
            <a:r>
              <a:t>✓  End-to-end forward run: uniform &amp; non-uniform arrays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 균일 &amp; 비균일 배열 end-to-end 동작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8A4C"/>
                </a:solidFill>
              </a:defRPr>
            </a:pPr>
            <a:r>
              <a:t>✓  All diagnostics: Δφ, max Δφ, ADR, extinction proxy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 모든 진단 지표 구현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8A4C"/>
                </a:solidFill>
              </a:defRPr>
            </a:pPr>
            <a:r>
              <a:t>✓  1D arrays of arbitrary size, complex Lorentzian 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 임의 크기 1D 배열, 복소 Lorentzian 분극률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8A4C"/>
                </a:solidFill>
              </a:defRPr>
            </a:pPr>
            <a:r>
              <a:t>✓  10/10 physical verification tests PASS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  10가지 물리 검증 모두 통과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3. Code Walk-Through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핵심 코드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(a) Green's function | Green 함수</a:t>
            </a:r>
          </a:p>
        </p:txBody>
      </p:sp>
      <p:pic>
        <p:nvPicPr>
          <p:cNvPr id="5" name="Picture 4" descr="w2_eq_97a9a4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2015612" cy="457200"/>
          </a:xfrm>
          <a:prstGeom prst="rect">
            <a:avLst/>
          </a:prstGeom>
        </p:spPr>
      </p:pic>
      <p:pic>
        <p:nvPicPr>
          <p:cNvPr id="6" name="Picture 5" descr="w2_code_0f57cb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4806042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(b) Interaction matrix | 상호작용 행렬</a:t>
            </a:r>
          </a:p>
        </p:txBody>
      </p:sp>
      <p:pic>
        <p:nvPicPr>
          <p:cNvPr id="8" name="Picture 7" descr="w2_code_d16f6f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669280" cy="16544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(c) Solver | 솔버  →  one line</a:t>
            </a:r>
          </a:p>
        </p:txBody>
      </p:sp>
      <p:pic>
        <p:nvPicPr>
          <p:cNvPr id="10" name="Picture 9" descr="w2_code_a6a69c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06240"/>
            <a:ext cx="5486400" cy="4772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937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E8A4C"/>
                </a:solidFill>
              </a:defRPr>
            </a:pPr>
            <a:r>
              <a:t>▸  Verification Test 4: residual = 5×10⁻¹⁶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77"/>
                </a:solidFill>
              </a:defRPr>
            </a:pPr>
            <a:r>
              <a:t>    선형 시스템이 기계 정밀도로 정확히 풀림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1A478A"/>
                </a:solidFill>
              </a:defRPr>
            </a:pPr>
            <a:r>
              <a:t>▸  Numpy broadcasting → N=320 까지 ~1초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77"/>
                </a:solidFill>
              </a:defRPr>
            </a:pPr>
            <a:r>
              <a:t>    O(N²) 행렬 구성, O(N³) 풀이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(d) Lorentzian polarizability | 분극률</a:t>
            </a:r>
          </a:p>
        </p:txBody>
      </p:sp>
      <p:pic>
        <p:nvPicPr>
          <p:cNvPr id="13" name="Picture 12" descr="w2_code_6880c9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160520"/>
            <a:ext cx="5669280" cy="19335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4. Verification Results  —  10 / 10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검증 결과 — 10/10 통과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한국어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Single dipole  =  α · E_inc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83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1개 쌍극자 해석해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783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rel. err  1.5×10⁻¹⁶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67128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128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2128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Two-dipole analytical  p = α/(1 − αG)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212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2개 쌍극자 해석해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212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rel. err  2.5×10⁻¹⁶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96896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426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426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Green's function formula + reciprocity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6426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Green 함수 공식 + 호혜성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6426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exact 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26664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0723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07238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Linear system residual  ‖Ap − E‖/‖E‖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0723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선형 시스템 잔차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0723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5.4×10⁻¹⁶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56432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02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5021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Mirror symmetry of centered array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502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거울 대칭성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502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7×10⁻¹⁶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86200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931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3931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Matrix reciprocity  A_ij = A_ji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행렬 호혜성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931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exact  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15968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3616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3616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Array-size convergence (2D lattice sum)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361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배열 크기 수렴성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4361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slope ≈ −0.26 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45736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7914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479145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Wavelength-scaling invariance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47914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파장 스케일링 불변성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exact  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175504"/>
            <a:ext cx="11612880" cy="411480"/>
          </a:xfrm>
          <a:prstGeom prst="rect">
            <a:avLst/>
          </a:prstGeom>
          <a:solidFill>
            <a:srgbClr val="F8FAFD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2212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2212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Extinction power positivity (optical theorem)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52212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소광 전력 양성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221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all  P_ext &gt;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605272"/>
            <a:ext cx="116128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6509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A4C"/>
                </a:solidFill>
              </a:defRPr>
            </a:pPr>
            <a: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5650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Non-uniform solver ⇒ uniform limit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56509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77"/>
                </a:solidFill>
              </a:defRPr>
            </a:pPr>
            <a:r>
              <a:t>비균일→균일 극한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56509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A4C"/>
                </a:solidFill>
              </a:defRPr>
            </a:pPr>
            <a:r>
              <a:t>exact 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5. Key Physical Finding — Test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주목할 물리 — Test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Observation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관측 결과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Convergence rate of central-atom Δφ vs 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중심 원자 Δφ의 N에 따른 수렴 속도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Observed slope: -0.26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관측 기울기: -0.26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Theoretical (2D free-space Green): -0.5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이론값 (2D Green): -0.5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C0392B"/>
                </a:solidFill>
              </a:defRPr>
            </a:pPr>
            <a:r>
              <a:t>Interpretation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해석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2D free-space Green's function decays as 1/sqrt(r)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2D Green 함수는 1/√r로 감쇠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1D lattice sum is conditionally convergent, slow O(1/sqrt(N))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1D 격자합은 조건부 수렴, O(1/√N)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3D would converge much faster (Green ~ 1/r)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3D였다면 1/r로 훨씬 빠름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• Not a numerical error — it reflects genuine 2D physics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666677"/>
                </a:solidFill>
              </a:defRPr>
            </a:pPr>
            <a:r>
              <a:t>  수치 오류가 아니라 2D 물리의 본질</a:t>
            </a:r>
          </a:p>
        </p:txBody>
      </p:sp>
      <p:pic>
        <p:nvPicPr>
          <p:cNvPr id="5" name="Picture 4" descr="verification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760720" cy="2016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6. Baseline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베이스라인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Setup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설정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Uniform 1D array, N = 31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1D 균일 배열, N = 31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Period P = 0.6 λ (sub-wavelength)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주기 P = 0.6 λ (서브파장)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Normal-incidence plane wave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정상 입사 평면파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C0392B"/>
                </a:solidFill>
              </a:defRPr>
            </a:pPr>
            <a:r>
              <a:t>Measured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측정 결과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Mean |Δφ| = 6.09°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평균 위상 편차 6.09°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Max |Δφ| = 7.89°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최대 편차 7.89°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ADR range [0.979, 1.041]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진폭 왜곡 비 [0.979, 1.041]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1E8A4C"/>
                </a:solidFill>
              </a:defRPr>
            </a:pPr>
            <a:r>
              <a:t>Conclusion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Coupling is real, measurable, non-negligible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커플링은 실제로 측정 가능한 수준</a:t>
            </a:r>
          </a:p>
        </p:txBody>
      </p:sp>
      <p:pic>
        <p:nvPicPr>
          <p:cNvPr id="5" name="Picture 4" descr="baseline_uniform_ar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760720" cy="20162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7. First Scan — Period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첫 스윕 결과 — 주기 스윕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Uniform vs non-uniform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균일 vs 비균일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E6BB0"/>
                </a:solidFill>
              </a:defRPr>
            </a:pPr>
            <a:r>
              <a:t>       P/λ      Uniform      Non-uniform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       0.5         5.8°             6.6°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22222"/>
                </a:solidFill>
              </a:defRPr>
            </a:pPr>
            <a:r>
              <a:t>       1.0        27.0°            22.4°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       1.5         3.4°             3.8°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22222"/>
                </a:solidFill>
              </a:defRPr>
            </a:pPr>
            <a:r>
              <a:t>       2.0        14.1°            18.3°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22222"/>
                </a:solidFill>
              </a:defRPr>
            </a:pPr>
            <a:r>
              <a:t>       3.0        20.9°            19.8°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1000"/>
              </a:spcBef>
              <a:spcAft>
                <a:spcPts val="200"/>
              </a:spcAft>
              <a:defRPr sz="2000" b="1">
                <a:solidFill>
                  <a:srgbClr val="C0392B"/>
                </a:solidFill>
              </a:defRPr>
            </a:pPr>
            <a:r>
              <a:t>Key observation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핵심 관찰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Sharp peaks at P = m · λ  (m ∈ ℤ)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파장의 정수배 주기에서 급격한 피크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Wood anomaly / lattice resonance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Wood anomaly, 격자 공명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Coincides with diffraction-order onset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회절 차수 개시 조건과 일치</a:t>
            </a:r>
          </a:p>
        </p:txBody>
      </p:sp>
      <p:pic>
        <p:nvPicPr>
          <p:cNvPr id="5" name="Picture 4" descr="period_swee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8. Main Difficulties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현재 주요 어려움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solidFill>
            <a:srgbClr val="F0F4FA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C0392B"/>
                </a:solidFill>
              </a:defRPr>
            </a:pPr>
            <a:r>
              <a:t>(a) Lattice-resonance divergence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격자 공명 발산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Matrix nearly singular at P ≈ m · λ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P = mλ 근처에서 행렬이 거의 특이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Δφ(P) curve non-monotonic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Δφ(P) 곡선이 단조롭지 않음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Must isolate off-resonance behavior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공명 영역을 피해 분석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463040"/>
            <a:ext cx="5120640" cy="4754880"/>
          </a:xfrm>
          <a:prstGeom prst="rect">
            <a:avLst/>
          </a:prstGeom>
          <a:solidFill>
            <a:srgbClr val="F0F4FA"/>
          </a:solidFill>
          <a:ln w="1905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478A"/>
                </a:solidFill>
              </a:defRPr>
            </a:pPr>
            <a:r>
              <a:t>(b) Slow 2D convergence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2D 시스템의 느린 수렴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2D Green decays as 1/sqrt(r)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2D Green 함수 1/√r 감쇠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Lattice sum converges conditionally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격자합이 조건부 수렴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Finite-array edge effect persists longer than 3D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유한 배열 edge effect가 3D보다 오래 지속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Future: periodic Bloch BC, Ewald summation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향후: Bloch 경계, Ewald 합법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9. Next Week's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다음 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Primary comparison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메인 비교 실험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Uniform vs non-uniform array — detailed analysis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균일 vs 비균일 상세 분석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Focus on off-resonance regions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공명을 피한 영역에 집중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Isolate (i) lattice coupling vs (ii) α-inhomogeneity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(i) 격자 커플링과 (ii) α 비균일성 효과 분리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Find threshold period P* where mean |Δφ| &lt; 1°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평균 |Δφ| &lt; 1°가 되는 임계 주기 P* 추정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478A"/>
                </a:solidFill>
              </a:defRPr>
            </a:pPr>
            <a:r>
              <a:t>Additional checks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666677"/>
                </a:solidFill>
              </a:defRPr>
            </a:pPr>
            <a:r>
              <a:t>추가 검증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Conditioning study near Wood anomalies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공명 근처의 행렬 조건수 분석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Energy budget: P_sca / P_ext ratio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에너지 예산: P_sca / P_ext 비율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Sensitivity to α-ordering in non-uniform cases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비균일 배열의 α 순서 민감도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